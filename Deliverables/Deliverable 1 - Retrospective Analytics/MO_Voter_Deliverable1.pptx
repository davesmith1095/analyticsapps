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3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3A5F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E3A5F"/>
                </a:solidFill>
                <a:latin typeface="Calibri"/>
              </a:rPr>
              <a:t>Total Votes (Millions)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Votes (Millions)</c:v>
                </c:pt>
              </c:strCache>
            </c:strRef>
          </c:tx>
          <c:spPr>
            <a:solidFill>
              <a:srgbClr val="2E5984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2016</c:v>
                </c:pt>
                <c:pt idx="1">
                  <c:v>2020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2.81</c:v>
                </c:pt>
                <c:pt idx="1">
                  <c:v>2.96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52-BE4F-978E-7304C0F07D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2"/>
          <c:min val="2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245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Missouri Voter Resource Allocation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Analytics: What Has Happened?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Deliverable 1 | CAPS 5576 Analytics Applications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1: Zekai Geng, Juanshuo Li, David Smith, Greg Sullivan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Context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91440" cy="12801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 are we informing?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Missouri allocate voting resources to ensure fair voter access?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91440" cy="1645920"/>
          </a:xfrm>
          <a:prstGeom prst="rect">
            <a:avLst/>
          </a:prstGeom>
          <a:solidFill>
            <a:srgbClr val="2E59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resource distribution can lead to longer wait times, reduced voter access, and potential disenfranchisement.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data-driven analysis helps ensure equitable access across all Missouri counties.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Turnout 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/ Voting Age Population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outcome measure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51760" cy="73152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Voters per Polling Place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votes / # polling places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&amp; wait time proxy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Precincts per Polling Place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precincts / # polling places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strain indicator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0" y="301752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0" y="3017520"/>
            <a:ext cx="2651760" cy="73152"/>
          </a:xfrm>
          <a:prstGeom prst="rect">
            <a:avLst/>
          </a:prstGeom>
          <a:solidFill>
            <a:srgbClr val="2E59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9659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Vehicle Rate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96596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households without vehicles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6596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barrier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6596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01752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2651760" cy="73152"/>
          </a:xfrm>
          <a:prstGeom prst="rect">
            <a:avLst/>
          </a:prstGeom>
          <a:solidFill>
            <a:srgbClr val="2E59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 Turnout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0060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equity gaps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Statewide Turnout Trends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1828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2.81M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468880" y="1600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2.96M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023360" y="1508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77840" y="914400"/>
            <a:ext cx="31089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77840" y="914400"/>
            <a:ext cx="73152" cy="2926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914400"/>
          <a:ext cx="292608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Statistics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rgbClr val="C9A2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116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rgbClr val="C9A2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~3,400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Precincts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rgbClr val="C9A2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62%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Turnout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E598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57-58%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statewide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Missouri turnout has grown steadily, but the 62% average masks significant county-level variation.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Polling Resource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2,330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Voters per Polling Place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Louis County — Highest in State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914400"/>
          <a:ext cx="4114800" cy="1828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Voters/Place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Louis County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91440" cy="164592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3429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Missouri's most populous county (St. Louis County) has the highest voter-to-polling-place ratio in the state.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 with &gt;2,000 voters per polling place may experience longer wait times and reduced voter access.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Turnout Variation &amp; Demographics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Turnout Range (2020)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73.7%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Highest: Shelby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417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6888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Lowest: Jackson*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percentage point spread between highest and lowest turnout counties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Patterns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Income → Higher Turnout</a:t>
            </a:r>
            <a:endParaRPr lang="en-US" sz="1100" dirty="0"/>
          </a:p>
          <a:p>
            <a:pPr marL="0" lvl="1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Charles ($87K) = 73% turnout</a:t>
            </a:r>
            <a:endParaRPr lang="en-US" sz="1100" dirty="0"/>
          </a:p>
          <a:p>
            <a:pPr marL="0" lvl="1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Pemiscot ($35K) = 47% turnout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Vehicle Rate = Access Barrier</a:t>
            </a:r>
            <a:endParaRPr lang="en-US" sz="1100" dirty="0"/>
          </a:p>
          <a:p>
            <a:pPr marL="0" lvl="1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Pulaski: 19.5% no vehicle, 35% turnout</a:t>
            </a:r>
            <a:endParaRPr lang="en-US" sz="1100" dirty="0"/>
          </a:p>
          <a:p>
            <a:pPr marL="0" lvl="1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Louis City: 12% no vehicle, 54% turnout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91440" cy="137160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Outliers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7490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Pulaski County (Fort Leonard Wood): 35% turnout — military base population affects VAP calculations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County: 25% turnout — data anomaly requiring investigation (Kansas City split?)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Shelby County: 74% turnout despite 9% no-vehicle rate — rural community engagement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→ Explanation → Implication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91440" cy="10972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Louis County has 2,330 voters per polling place — highest in the state.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county by population but polling resources haven't scaled proportionally.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for longer wait times and reduced voter access in Missouri's most populous county.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91440" cy="109728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9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56032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 with higher no-vehicle rates tend to have lower turnout (Pulaski: 19% no-vehicle, 35% turnout).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barriers limit access to polling locations, especially in areas without transit.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transportation assistance or additional polling locations could improve access.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91440" cy="109728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379476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income counties consistently show higher turnout (St. Charles $87K = 73% vs Pemiscot $35K = 47%).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correlates with education, flexibility to vote, and access to information.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Lower-income counties may benefit from extended hours, early voting, or voter outreach.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Establishment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for Future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Turnout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1828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55-65%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2560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&lt;55%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Voters per Polling Place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43400" y="1828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1,000-1,500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194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43400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&lt;1,000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43400" y="2560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&gt;2,000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28016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Vehicle 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78040" y="1828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2194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78040" y="2560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Presidential Elections (2016, 2020, 2024)  •  116 Missouri Counties  •  ~70,000 Precinct-Level Records  •  5 Census Demographic Tables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models to predict turnout based on demographics and resource allocation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Analytics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polling place locations to maximize voter access and minimize wait times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voter density, polling locations, and transportation barriers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| CAPS 5576 | Spring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</Words>
  <Application>Microsoft Macintosh PowerPoint</Application>
  <PresentationFormat>On-screen Show (16:9)</PresentationFormat>
  <Paragraphs>151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Missouri Voter Resource Allocation - Deliverable 1</dc:title>
  <dc:subject>PptxGenJS Presentation</dc:subject>
  <dc:creator>Group 1</dc:creator>
  <cp:lastModifiedBy>Greg Sullivan</cp:lastModifiedBy>
  <cp:revision>2</cp:revision>
  <dcterms:created xsi:type="dcterms:W3CDTF">2026-03-22T20:06:51Z</dcterms:created>
  <dcterms:modified xsi:type="dcterms:W3CDTF">2026-03-22T20:08:42Z</dcterms:modified>
</cp:coreProperties>
</file>